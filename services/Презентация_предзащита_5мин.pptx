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25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234440"/>
            <a:ext cx="109728" cy="1737360"/>
          </a:xfrm>
          <a:prstGeom prst="rect">
            <a:avLst/>
          </a:prstGeom>
          <a:solidFill>
            <a:srgbClr val="C98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09728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Адаптивное управление нагрузкой в распределенной среде на основе интеллектуального анализа трафика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886200"/>
            <a:ext cx="6949440" cy="1417320"/>
          </a:xfrm>
          <a:prstGeom prst="roundRect">
            <a:avLst/>
          </a:prstGeom>
          <a:solidFill>
            <a:srgbClr val="F8F7F3"/>
          </a:solidFill>
          <a:ln>
            <a:solidFill>
              <a:srgbClr val="354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27000"/>
          <a:lstStyle/>
          <a:p>
            <a:pPr algn="ctr">
              <a:spcAft>
                <a:spcPts val="300"/>
              </a:spcAft>
              <a:defRPr sz="2000" b="1">
                <a:solidFill>
                  <a:srgbClr val="1F2937"/>
                </a:solidFill>
                <a:latin typeface="Arial"/>
              </a:defRPr>
            </a:pPr>
            <a:r>
              <a:t>Юнусов Ислам Рамилевич</a:t>
            </a:r>
          </a:p>
          <a:p>
            <a:pPr>
              <a:spcAft>
                <a:spcPts val="300"/>
              </a:spcAft>
              <a:defRPr sz="1700" b="0">
                <a:solidFill>
                  <a:srgbClr val="1F2937"/>
                </a:solidFill>
                <a:latin typeface="Arial"/>
              </a:defRPr>
            </a:pPr>
            <a:r>
              <a:t>Группа P4219</a:t>
            </a:r>
          </a:p>
          <a:p>
            <a:pPr>
              <a:spcAft>
                <a:spcPts val="300"/>
              </a:spcAft>
              <a:defRPr sz="1700" b="0">
                <a:solidFill>
                  <a:srgbClr val="1F2937"/>
                </a:solidFill>
                <a:latin typeface="Arial"/>
              </a:defRPr>
            </a:pPr>
            <a:r>
              <a:t>Научный руководитель: Платонов Алексей Владимирович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4160520"/>
            <a:ext cx="2377440" cy="658368"/>
          </a:xfrm>
          <a:prstGeom prst="roundRect">
            <a:avLst/>
          </a:prstGeom>
          <a:solidFill>
            <a:srgbClr val="C98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Предзащита, 5 минут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0F3F6"/>
                </a:solidFill>
                <a:latin typeface="Arial"/>
              </a:defRPr>
            </a:pPr>
            <a: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C98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Georgia"/>
              </a:defRPr>
            </a:pPr>
            <a:r>
              <a:t>Актуальность и проблема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32688"/>
            <a:ext cx="461772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78992"/>
            <a:ext cx="4315968" cy="4892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800" b="0">
                <a:solidFill>
                  <a:srgbClr val="1F2937"/>
                </a:solidFill>
                <a:latin typeface="Arial"/>
              </a:defRPr>
            </a:pPr>
            <a:r>
              <a:t>1. Публичные и внутренние API работают в условиях переменной нагрузки.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800" b="0">
                <a:solidFill>
                  <a:srgbClr val="1F2937"/>
                </a:solidFill>
                <a:latin typeface="Arial"/>
              </a:defRPr>
            </a:pPr>
            <a:r>
              <a:t>2. Перегрузка и DDoS-подобные сценарии приводят к задержкам, ошибкам и отказам.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800" b="1">
                <a:solidFill>
                  <a:srgbClr val="1F2937"/>
                </a:solidFill>
                <a:latin typeface="Arial"/>
              </a:defRPr>
            </a:pPr>
            <a:r>
              <a:t>3. Статические лимиты неудобны: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800" b="0">
                <a:solidFill>
                  <a:srgbClr val="1F2937"/>
                </a:solidFill>
                <a:latin typeface="Arial"/>
              </a:defRPr>
            </a:pPr>
            <a:r>
              <a:t>- либо мешают обычным пользователям,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800" b="0">
                <a:solidFill>
                  <a:srgbClr val="1F2937"/>
                </a:solidFill>
                <a:latin typeface="Arial"/>
              </a:defRPr>
            </a:pPr>
            <a:r>
              <a:t>- либо недостаточно защищают систему.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800" b="0">
                <a:solidFill>
                  <a:srgbClr val="1F2937"/>
                </a:solidFill>
                <a:latin typeface="Arial"/>
              </a:defRPr>
            </a:pPr>
            <a:r>
              <a:t>4. Нужен механизм, который в обычном режиме сохраняет доступность, а при атаке усиливает защиту.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0" y="1078992"/>
            <a:ext cx="6327648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1_cascade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104" y="2250932"/>
            <a:ext cx="6217920" cy="21823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40680" y="5623560"/>
            <a:ext cx="61447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D6874"/>
                </a:solidFill>
                <a:latin typeface="Arial"/>
              </a:defRPr>
            </a:pPr>
            <a:r>
              <a:t>Каскадная деградация распределённой системы при перегрузке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D6874"/>
                </a:solidFill>
                <a:latin typeface="Arial"/>
              </a:defRPr>
            </a:pPr>
            <a: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C98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Georgia"/>
              </a:defRPr>
            </a:pPr>
            <a:r>
              <a:t>Цель и задачи исследования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051560"/>
            <a:ext cx="10927080" cy="822960"/>
          </a:xfrm>
          <a:prstGeom prst="roundRect">
            <a:avLst/>
          </a:prstGeom>
          <a:solidFill>
            <a:srgbClr val="F3ECE2"/>
          </a:solidFill>
          <a:ln>
            <a:solidFill>
              <a:srgbClr val="C9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2937"/>
                </a:solidFill>
                <a:latin typeface="Arial"/>
              </a:defRPr>
            </a:pPr>
            <a:r>
              <a:t>Цель работы: Разработать и экспериментально проверить подход к ограничению частоты запросов, который помогает сохранять доступность сервиса для добросовестных пользователей и усиливать защиту при аномальной нагрузке.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103120"/>
            <a:ext cx="53492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53492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892040" cy="32461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1. Проанализировать проблемы устойчивости и защищённости распределённых систем при высокой и аномальной нагрузке.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2. Сравнить алгоритмы Fixed Window, Sliding Window и Token Bucket по точности, адаптивности, сложности и применимости.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3. Спроектировать архитектуру прототипа: генератор нагрузки, прокси-лимитер, целевой сервис, Redis, Prometheus/Grafana.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4. Реализовать распределённый механизм RPS-лимитирования в сервисе C с хранением состояния в Redis и режимом fail-open.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331720"/>
            <a:ext cx="4892040" cy="32461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5. Подключить внешний аналитический модуль для адаптивной настройки лимитов на основе телеметрии.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6. Провести эксперименты в сценариях равномерной нагрузки, всплесков, аномального трафика и отказа Redis.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7. Оценить результаты по времени отклика, доле отклонённых запросов и устойчивости при пиках.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8. Сформулировать практические рекомендации по выбору алгоритма и параметров лимитирования.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5897880"/>
            <a:ext cx="8229600" cy="420624"/>
          </a:xfrm>
          <a:prstGeom prst="roundRect">
            <a:avLst/>
          </a:prstGeom>
          <a:solidFill>
            <a:srgbClr val="F3ECE2"/>
          </a:solidFill>
          <a:ln>
            <a:solidFill>
              <a:srgbClr val="C9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2937"/>
                </a:solidFill>
                <a:latin typeface="Arial"/>
              </a:defRPr>
            </a:pPr>
            <a:r>
              <a:t>Все задачи связаны с практической проверкой решения на реальном проектном стенде.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282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D6874"/>
                </a:solidFill>
                <a:latin typeface="Arial"/>
              </a:defRPr>
            </a:pPr>
            <a: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C98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Georgia"/>
              </a:defRPr>
            </a:pPr>
            <a:r>
              <a:t>Архитектура решения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32688"/>
            <a:ext cx="461772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78992"/>
            <a:ext cx="4315968" cy="4892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800" b="0">
                <a:solidFill>
                  <a:srgbClr val="1F2937"/>
                </a:solidFill>
                <a:latin typeface="Arial"/>
              </a:defRPr>
            </a:pPr>
            <a:r>
              <a:t>1. Service A — генератор нагрузки.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800" b="0">
                <a:solidFill>
                  <a:srgbClr val="1F2937"/>
                </a:solidFill>
                <a:latin typeface="Arial"/>
              </a:defRPr>
            </a:pPr>
            <a:r>
              <a:t>2. Service C — прокси-лимитер, где применяется алгоритм ограничения.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800" b="0">
                <a:solidFill>
                  <a:srgbClr val="1F2937"/>
                </a:solidFill>
                <a:latin typeface="Arial"/>
              </a:defRPr>
            </a:pPr>
            <a:r>
              <a:t>3. Service B — целевой сервис.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800" b="0">
                <a:solidFill>
                  <a:srgbClr val="1F2937"/>
                </a:solidFill>
                <a:latin typeface="Arial"/>
              </a:defRPr>
            </a:pPr>
            <a:r>
              <a:t>4. Redis — хранение общего состояния лимитов.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800" b="0">
                <a:solidFill>
                  <a:srgbClr val="1F2937"/>
                </a:solidFill>
                <a:latin typeface="Arial"/>
              </a:defRPr>
            </a:pPr>
            <a:r>
              <a:t>5. Prometheus/Grafana — сбор и анализ метрик.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800" b="0">
                <a:solidFill>
                  <a:srgbClr val="1F2937"/>
                </a:solidFill>
                <a:latin typeface="Arial"/>
              </a:defRPr>
            </a:pPr>
            <a:r>
              <a:t>6. Внешний аналитический модуль — рекомендация режима работы.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800" b="0">
                <a:solidFill>
                  <a:srgbClr val="1F2937"/>
                </a:solidFill>
                <a:latin typeface="Arial"/>
              </a:defRPr>
            </a:pPr>
            <a:r>
              <a:t>Каждый запрос сначала проходит через лимитер, и только потом попадает в целевой сервис.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0" y="1078992"/>
            <a:ext cx="6327648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5_experiment_st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104" y="1575169"/>
            <a:ext cx="6217920" cy="35339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40680" y="5623560"/>
            <a:ext cx="61447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D6874"/>
                </a:solidFill>
                <a:latin typeface="Arial"/>
              </a:defRPr>
            </a:pPr>
            <a:r>
              <a:t>Схема экспериментального стенда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D6874"/>
                </a:solidFill>
                <a:latin typeface="Arial"/>
              </a:defRPr>
            </a:pPr>
            <a: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C98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Georgia"/>
              </a:defRPr>
            </a:pPr>
            <a:r>
              <a:t>Методика эксперимента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0120"/>
            <a:ext cx="484632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97280"/>
            <a:ext cx="4535424" cy="47548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700" b="1">
                <a:solidFill>
                  <a:srgbClr val="1F2937"/>
                </a:solidFill>
                <a:latin typeface="Arial"/>
              </a:defRPr>
            </a:pPr>
            <a:r>
              <a:t>Сравнивались 3 алгоритма: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700" b="0">
                <a:solidFill>
                  <a:srgbClr val="1F2937"/>
                </a:solidFill>
                <a:latin typeface="Arial"/>
              </a:defRPr>
            </a:pPr>
            <a:r>
              <a:t>1. Fixed Window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700" b="0">
                <a:solidFill>
                  <a:srgbClr val="1F2937"/>
                </a:solidFill>
                <a:latin typeface="Arial"/>
              </a:defRPr>
            </a:pPr>
            <a:r>
              <a:t>2. Sliding Window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700" b="0">
                <a:solidFill>
                  <a:srgbClr val="1F2937"/>
                </a:solidFill>
                <a:latin typeface="Arial"/>
              </a:defRPr>
            </a:pPr>
            <a:r>
              <a:t>3. Token Bucket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700" b="1">
                <a:solidFill>
                  <a:srgbClr val="1F2937"/>
                </a:solidFill>
                <a:latin typeface="Arial"/>
              </a:defRPr>
            </a:pPr>
            <a:r>
              <a:t>Сценарии нагрузки: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700" b="0">
                <a:solidFill>
                  <a:srgbClr val="1F2937"/>
                </a:solidFill>
                <a:latin typeface="Arial"/>
              </a:defRPr>
            </a:pPr>
            <a:r>
              <a:t>1. Равномерная низкая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700" b="0">
                <a:solidFill>
                  <a:srgbClr val="1F2937"/>
                </a:solidFill>
                <a:latin typeface="Arial"/>
              </a:defRPr>
            </a:pPr>
            <a:r>
              <a:t>2. Плавно меняющаяся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700" b="0">
                <a:solidFill>
                  <a:srgbClr val="1F2937"/>
                </a:solidFill>
                <a:latin typeface="Arial"/>
              </a:defRPr>
            </a:pPr>
            <a:r>
              <a:t>3. Стохастическая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700" b="0">
                <a:solidFill>
                  <a:srgbClr val="1F2937"/>
                </a:solidFill>
                <a:latin typeface="Arial"/>
              </a:defRPr>
            </a:pPr>
            <a:r>
              <a:t>4. Стабильно высокая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700" b="0">
                <a:solidFill>
                  <a:srgbClr val="1F2937"/>
                </a:solidFill>
                <a:latin typeface="Arial"/>
              </a:defRPr>
            </a:pPr>
            <a:r>
              <a:t>5. Кратковременные всплески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700" b="0">
                <a:solidFill>
                  <a:srgbClr val="1F2937"/>
                </a:solidFill>
                <a:latin typeface="Arial"/>
              </a:defRPr>
            </a:pPr>
            <a:r>
              <a:t>6. DDoS-подобная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700" b="1">
                <a:solidFill>
                  <a:srgbClr val="1F2937"/>
                </a:solidFill>
                <a:latin typeface="Arial"/>
              </a:defRPr>
            </a:pPr>
            <a:r>
              <a:t>Ключевые метрики: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700" b="0">
                <a:solidFill>
                  <a:srgbClr val="1F2937"/>
                </a:solidFill>
                <a:latin typeface="Arial"/>
              </a:defRPr>
            </a:pPr>
            <a:r>
              <a:t>1. Задержка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700" b="0">
                <a:solidFill>
                  <a:srgbClr val="1F2937"/>
                </a:solidFill>
                <a:latin typeface="Arial"/>
              </a:defRPr>
            </a:pPr>
            <a:r>
              <a:t>2. Доля успешно пропущенных запросов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700" b="0">
                <a:solidFill>
                  <a:srgbClr val="1F2937"/>
                </a:solidFill>
                <a:latin typeface="Arial"/>
              </a:defRPr>
            </a:pPr>
            <a:r>
              <a:t>3. Доля отклонённых запросов 429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700" b="1">
                <a:solidFill>
                  <a:srgbClr val="1F2937"/>
                </a:solidFill>
                <a:latin typeface="Arial"/>
              </a:defRPr>
            </a:pPr>
            <a:r>
              <a:t>Отдельно: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700" b="0">
                <a:solidFill>
                  <a:srgbClr val="1F2937"/>
                </a:solidFill>
                <a:latin typeface="Arial"/>
              </a:defRPr>
            </a:pPr>
            <a:r>
              <a:t>Фазовый адаптивный эксперимент по схеме «норма -&gt; атака -&gt; восстановление».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5577840"/>
            <a:ext cx="4160520" cy="384048"/>
          </a:xfrm>
          <a:prstGeom prst="roundRect">
            <a:avLst/>
          </a:prstGeom>
          <a:solidFill>
            <a:srgbClr val="F3ECE2"/>
          </a:solidFill>
          <a:ln>
            <a:solidFill>
              <a:srgbClr val="C9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2937"/>
                </a:solidFill>
                <a:latin typeface="Arial"/>
              </a:defRPr>
            </a:pPr>
            <a:r>
              <a:t>Норма → атака → восстановление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1115568"/>
            <a:ext cx="58978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4_results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983" y="1711013"/>
            <a:ext cx="5788152" cy="328966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0" y="5623560"/>
            <a:ext cx="5577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D6874"/>
                </a:solidFill>
                <a:latin typeface="Arial"/>
              </a:defRPr>
            </a:pPr>
            <a:r>
              <a:t>Структура экспериментальных результатов и логика обработки сценариев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282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D6874"/>
                </a:solidFill>
                <a:latin typeface="Arial"/>
              </a:defRPr>
            </a:pPr>
            <a: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C98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Georgia"/>
              </a:defRPr>
            </a:pPr>
            <a:r>
              <a:t>Ключевые результаты по алгоритмам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41832"/>
            <a:ext cx="388620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78992"/>
            <a:ext cx="3566160" cy="34747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700" b="0">
                <a:solidFill>
                  <a:srgbClr val="1F2937"/>
                </a:solidFill>
                <a:latin typeface="Arial"/>
              </a:defRPr>
            </a:pPr>
            <a:r>
              <a:t>1. Универсального победителя нет: лучший алгоритм зависит от профиля нагрузки.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700" b="0">
                <a:solidFill>
                  <a:srgbClr val="1F2937"/>
                </a:solidFill>
                <a:latin typeface="Arial"/>
              </a:defRPr>
            </a:pPr>
            <a:r>
              <a:t>2. Token Bucket лучше сохраняет легитимный нерегулярный трафик.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700" b="0">
                <a:solidFill>
                  <a:srgbClr val="1F2937"/>
                </a:solidFill>
                <a:latin typeface="Arial"/>
              </a:defRPr>
            </a:pPr>
            <a:r>
              <a:t>Пример: в сценарии poisson доля успешно пропущенных запросов составила 99.27%.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700" b="0">
                <a:solidFill>
                  <a:srgbClr val="1F2937"/>
                </a:solidFill>
                <a:latin typeface="Arial"/>
              </a:defRPr>
            </a:pPr>
            <a:r>
              <a:t>3. Sliding Window даёт самую строгую защиту в DDoS-сценарии.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700" b="0">
                <a:solidFill>
                  <a:srgbClr val="1F2937"/>
                </a:solidFill>
                <a:latin typeface="Arial"/>
              </a:defRPr>
            </a:pPr>
            <a:r>
              <a:t>Пример: максимальная доля отклонённых запросов среди сравниваемых алгоритмов.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700" b="0">
                <a:solidFill>
                  <a:srgbClr val="1F2937"/>
                </a:solidFill>
                <a:latin typeface="Arial"/>
              </a:defRPr>
            </a:pPr>
            <a:r>
              <a:t>4. Fixed Window прост в реализации, но работает грубее и менее точно.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700" b="1">
                <a:solidFill>
                  <a:srgbClr val="1F2937"/>
                </a:solidFill>
                <a:latin typeface="Arial"/>
              </a:defRPr>
            </a:pPr>
            <a:r>
              <a:t>Короткий вывод: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700" b="0">
                <a:solidFill>
                  <a:srgbClr val="1F2937"/>
                </a:solidFill>
                <a:latin typeface="Arial"/>
              </a:defRPr>
            </a:pPr>
            <a:r>
              <a:t>Для разных режимов нагрузки нужны разные алгоритмические профили.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078992"/>
            <a:ext cx="694944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3_2b_reliability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1133856"/>
            <a:ext cx="5998464" cy="2999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09160" y="4242816"/>
            <a:ext cx="6720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D6874"/>
                </a:solidFill>
                <a:latin typeface="Arial"/>
              </a:defRPr>
            </a:pPr>
            <a:r>
              <a:t>Сравнение алгоритмов по доступности штатного трафика и защитной функции в DDoS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" y="4663440"/>
          <a:ext cx="1088136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331470">
                <a:tc>
                  <a:txBody>
                    <a:bodyPr wrap="square"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Алгоритм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Штатный трафик, %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DDoS reject, %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Средняя задержка, мс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</a:tr>
              <a:tr h="331470">
                <a:tc>
                  <a:txBody>
                    <a:bodyPr wrap="square" anchor="ctr"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Token Bucket</a:t>
                      </a:r>
                    </a:p>
                  </a:txBody>
                  <a:tcPr>
                    <a:solidFill>
                      <a:srgbClr val="F3ECE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92.08</a:t>
                      </a:r>
                    </a:p>
                  </a:txBody>
                  <a:tcPr>
                    <a:solidFill>
                      <a:srgbClr val="F3ECE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32.67</a:t>
                      </a:r>
                    </a:p>
                  </a:txBody>
                  <a:tcPr>
                    <a:solidFill>
                      <a:srgbClr val="F3ECE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1.680</a:t>
                      </a:r>
                    </a:p>
                  </a:txBody>
                  <a:tcPr>
                    <a:solidFill>
                      <a:srgbClr val="F3ECE2"/>
                    </a:solidFill>
                  </a:tcPr>
                </a:tc>
              </a:tr>
              <a:tr h="331470">
                <a:tc>
                  <a:txBody>
                    <a:bodyPr wrap="square" anchor="ctr"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Sliding 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65.99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73.52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1.534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wrap="square" anchor="ctr"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Fixed Window</a:t>
                      </a:r>
                    </a:p>
                  </a:txBody>
                  <a:tcPr>
                    <a:solidFill>
                      <a:srgbClr val="F3ECE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89.23</a:t>
                      </a:r>
                    </a:p>
                  </a:txBody>
                  <a:tcPr>
                    <a:solidFill>
                      <a:srgbClr val="F3ECE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26.85</a:t>
                      </a:r>
                    </a:p>
                  </a:txBody>
                  <a:tcPr>
                    <a:solidFill>
                      <a:srgbClr val="F3ECE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12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1.773</a:t>
                      </a:r>
                    </a:p>
                  </a:txBody>
                  <a:tcPr>
                    <a:solidFill>
                      <a:srgbClr val="F3ECE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155680" y="64282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D6874"/>
                </a:solidFill>
                <a:latin typeface="Arial"/>
              </a:defRPr>
            </a:pPr>
            <a: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C98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Georgia"/>
              </a:defRPr>
            </a:pPr>
            <a:r>
              <a:t>Ключевой результат по adaptive-контуру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32688"/>
            <a:ext cx="361188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60704"/>
            <a:ext cx="3310128" cy="448056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 b="1">
                <a:solidFill>
                  <a:srgbClr val="1F2937"/>
                </a:solidFill>
                <a:latin typeface="Arial"/>
              </a:defRPr>
            </a:pPr>
            <a:r>
              <a:t>Базовая идея: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В обычном режиме система работает как Token Bucket,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при атаке переходит к более строгому режиму Sliding Window.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 b="1">
                <a:solidFill>
                  <a:srgbClr val="1F2937"/>
                </a:solidFill>
                <a:latin typeface="Arial"/>
              </a:defRPr>
            </a:pPr>
            <a:r>
              <a:t>Что подтверждено экспериментом: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1. Схема token -&gt; sliding -&gt; token воспроизводимо работает.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2. В нормальной фазе сохраняется 100% доступность.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3. В атакующей фазе защита усиливается по сравнению со статическим Token Bucket.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4. Контур реально выполняет переключения режима.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 b="1">
                <a:solidFill>
                  <a:srgbClr val="1F2937"/>
                </a:solidFill>
                <a:latin typeface="Arial"/>
              </a:defRPr>
            </a:pPr>
            <a:r>
              <a:t>Ограничение: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Возврат из защитного режима пока происходит слишком медленно.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60704"/>
            <a:ext cx="717804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3_2d_phase_re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525" y="1115568"/>
            <a:ext cx="6146349" cy="24505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34840" y="3639312"/>
            <a:ext cx="6858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D6874"/>
                </a:solidFill>
                <a:latin typeface="Arial"/>
              </a:defRPr>
            </a:pPr>
            <a:r>
              <a:t>Фазовое сравнение отклонённых запросов в адаптивном эксперименте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886200"/>
            <a:ext cx="3657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3_2e_adaptive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553" y="3941063"/>
            <a:ext cx="2527853" cy="13075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43400" y="5321808"/>
            <a:ext cx="3566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D6874"/>
                </a:solidFill>
                <a:latin typeface="Arial"/>
              </a:defRPr>
            </a:pPr>
            <a:r>
              <a:t>Таймлайн переключений adaptive-контура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183879" y="3931920"/>
          <a:ext cx="324612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530"/>
                <a:gridCol w="811530"/>
                <a:gridCol w="811530"/>
                <a:gridCol w="811530"/>
              </a:tblGrid>
              <a:tr h="463296">
                <a:tc>
                  <a:txBody>
                    <a:bodyPr wrap="square" anchor="ctr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Сценарий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Reject в фазе атаки, %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Reject в фазе восстановления, %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Переключения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</a:tr>
              <a:tr h="463296">
                <a:tc>
                  <a:txBody>
                    <a:bodyPr wrap="square" anchor="ctr"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phase_burst_recovery</a:t>
                      </a:r>
                    </a:p>
                  </a:txBody>
                  <a:tcPr>
                    <a:solidFill>
                      <a:srgbClr val="F3ECE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48.17</a:t>
                      </a:r>
                    </a:p>
                  </a:txBody>
                  <a:tcPr>
                    <a:solidFill>
                      <a:srgbClr val="F3ECE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8.56</a:t>
                      </a:r>
                    </a:p>
                  </a:txBody>
                  <a:tcPr>
                    <a:solidFill>
                      <a:srgbClr val="F3ECE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ECE2"/>
                    </a:solidFill>
                  </a:tcPr>
                </a:tc>
              </a:tr>
              <a:tr h="463296">
                <a:tc>
                  <a:txBody>
                    <a:bodyPr wrap="square" anchor="ctr"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phase_ddos_recovery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71.04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27.24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defRPr sz="11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1155680" y="64282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D6874"/>
                </a:solidFill>
                <a:latin typeface="Arial"/>
              </a:defRPr>
            </a:pPr>
            <a: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73152"/>
          </a:xfrm>
          <a:prstGeom prst="rect">
            <a:avLst/>
          </a:prstGeom>
          <a:solidFill>
            <a:srgbClr val="C98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Georgia"/>
              </a:defRPr>
            </a:pPr>
            <a:r>
              <a:t>Выводы и практическая значимость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097280"/>
            <a:ext cx="10972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98448"/>
            <a:ext cx="10515600" cy="3931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800" b="0">
                <a:solidFill>
                  <a:srgbClr val="1F2937"/>
                </a:solidFill>
                <a:latin typeface="Arial"/>
              </a:defRPr>
            </a:pPr>
            <a:r>
              <a:t>1. Разработан и проверен работающий прототип распределённого лимитера.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800" b="0">
                <a:solidFill>
                  <a:srgbClr val="1F2937"/>
                </a:solidFill>
                <a:latin typeface="Arial"/>
              </a:defRPr>
            </a:pPr>
            <a:r>
              <a:t>2. Показано, что выбор алгоритма должен зависеть от типа нагрузки.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800" b="0">
                <a:solidFill>
                  <a:srgbClr val="1F2937"/>
                </a:solidFill>
                <a:latin typeface="Arial"/>
              </a:defRPr>
            </a:pPr>
            <a:r>
              <a:t>3. Для штатного режима наиболее полезен Token Bucket.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800" b="0">
                <a:solidFill>
                  <a:srgbClr val="1F2937"/>
                </a:solidFill>
                <a:latin typeface="Arial"/>
              </a:defRPr>
            </a:pPr>
            <a:r>
              <a:t>4. Для аномальной нагрузки наиболее оправдан Sliding Window.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800" b="0">
                <a:solidFill>
                  <a:srgbClr val="1F2937"/>
                </a:solidFill>
                <a:latin typeface="Arial"/>
              </a:defRPr>
            </a:pPr>
            <a:r>
              <a:t>5. Адаптивный контур полезен как механизм переключения режимов.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800" b="0">
                <a:solidFill>
                  <a:srgbClr val="1F2937"/>
                </a:solidFill>
                <a:latin typeface="Arial"/>
              </a:defRPr>
            </a:pPr>
            <a:r>
              <a:t>6. Решение может использоваться как основа для защиты публичных API и снижения риска перегрузки сервиса.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669280"/>
            <a:ext cx="10241280" cy="457200"/>
          </a:xfrm>
          <a:prstGeom prst="roundRect">
            <a:avLst/>
          </a:prstGeom>
          <a:solidFill>
            <a:srgbClr val="F3ECE2"/>
          </a:solidFill>
          <a:ln>
            <a:solidFill>
              <a:srgbClr val="C98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2937"/>
                </a:solidFill>
                <a:latin typeface="Arial"/>
              </a:defRPr>
            </a:pPr>
            <a:r>
              <a:t>Практический результат работы — воспроизводимая двухрежимная политика лимитирования для распределённой системы.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D6874"/>
                </a:solidFill>
                <a:latin typeface="Arial"/>
              </a:defRPr>
            </a:pPr>
            <a: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