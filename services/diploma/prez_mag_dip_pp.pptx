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Заголовок презентации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xfrm>
            <a:off x="23558499" y="1246072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Изогнутые белые арки на отражающей поверхности серого пола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Автор и дата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Заголовок презентации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Вид снизу на высокое здание с зеркальными окнами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3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Частичный вид на потолок с деревянными панелями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Подзаголовок слайда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0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09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Заголовок повестки дня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Открытая галерея каменной постройки под розово-пурпурным небом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Чёрно-белое фото изогнутой крыши крупным планом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Вид снизу на металлическую спиральную лестницу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Белый коридор футуристичного вида с тенями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048511">
              <a:defRPr spc="-49" sz="4988">
                <a:solidFill>
                  <a:srgbClr val="FFFFFF"/>
                </a:solidFill>
              </a:defRPr>
            </a:lvl1pPr>
          </a:lstStyle>
          <a:p>
            <a:pPr/>
            <a:r>
              <a:t>Адаптивное управление нагрузкой в распределенной среде на основе интеллектуального анализа трафика</a:t>
            </a:r>
          </a:p>
        </p:txBody>
      </p:sp>
      <p:grpSp>
        <p:nvGrpSpPr>
          <p:cNvPr id="174" name="Rounded Rectangle 4"/>
          <p:cNvGrpSpPr/>
          <p:nvPr/>
        </p:nvGrpSpPr>
        <p:grpSpPr>
          <a:xfrm>
            <a:off x="2926079" y="9258555"/>
            <a:ext cx="18531842" cy="3779521"/>
            <a:chOff x="0" y="0"/>
            <a:chExt cx="18531840" cy="3779520"/>
          </a:xfrm>
        </p:grpSpPr>
        <p:sp>
          <p:nvSpPr>
            <p:cNvPr id="172" name="Закругленный прямоугольник"/>
            <p:cNvSpPr/>
            <p:nvPr/>
          </p:nvSpPr>
          <p:spPr>
            <a:xfrm>
              <a:off x="0" y="0"/>
              <a:ext cx="18531841" cy="3779521"/>
            </a:xfrm>
            <a:prstGeom prst="roundRect">
              <a:avLst>
                <a:gd name="adj" fmla="val 16667"/>
              </a:avLst>
            </a:prstGeom>
            <a:solidFill>
              <a:srgbClr val="F8F7F3"/>
            </a:solidFill>
            <a:ln w="25400" cap="flat">
              <a:solidFill>
                <a:srgbClr val="354E6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800"/>
                </a:spcBef>
                <a:defRPr sz="44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3" name="Юнусов Ислам Рамилевич…"/>
            <p:cNvSpPr txBox="1"/>
            <p:nvPr/>
          </p:nvSpPr>
          <p:spPr>
            <a:xfrm>
              <a:off x="684881" y="906729"/>
              <a:ext cx="17527839" cy="21828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2438400">
                <a:lnSpc>
                  <a:spcPct val="90000"/>
                </a:lnSpc>
                <a:spcBef>
                  <a:spcPts val="800"/>
                </a:spcBef>
                <a:defRPr b="1" spc="-52" sz="52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Юнусов Ислам Рамилевич</a:t>
              </a:r>
            </a:p>
            <a:p>
              <a:pPr defTabSz="2438400">
                <a:lnSpc>
                  <a:spcPct val="90000"/>
                </a:lnSpc>
                <a:spcBef>
                  <a:spcPts val="800"/>
                </a:spcBef>
                <a:defRPr spc="-44" sz="44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Группа P4219</a:t>
              </a:r>
            </a:p>
            <a:p>
              <a:pPr defTabSz="2438400">
                <a:lnSpc>
                  <a:spcPct val="90000"/>
                </a:lnSpc>
                <a:spcBef>
                  <a:spcPts val="800"/>
                </a:spcBef>
                <a:defRPr spc="-44" sz="44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Научный руководитель: Платонов Алексей Владимирович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Заголовок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825500">
              <a:lnSpc>
                <a:spcPct val="100000"/>
              </a:lnSpc>
              <a:defRPr spc="0" sz="7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Актуальность и проблема</a:t>
            </a:r>
          </a:p>
        </p:txBody>
      </p:sp>
      <p:sp>
        <p:nvSpPr>
          <p:cNvPr id="177" name="Номер слайда"/>
          <p:cNvSpPr txBox="1"/>
          <p:nvPr>
            <p:ph type="sldNum" sz="quarter" idx="4294967295"/>
          </p:nvPr>
        </p:nvSpPr>
        <p:spPr>
          <a:xfrm>
            <a:off x="23549816" y="12458699"/>
            <a:ext cx="397305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/>
          <a:p>
            <a:pPr/>
            <a:fld id="{86CB4B4D-7CA3-9044-876B-883B54F8677D}" type="slidenum"/>
          </a:p>
        </p:txBody>
      </p:sp>
      <p:sp>
        <p:nvSpPr>
          <p:cNvPr id="178" name="Rounded Rectangle 4"/>
          <p:cNvSpPr/>
          <p:nvPr/>
        </p:nvSpPr>
        <p:spPr>
          <a:xfrm>
            <a:off x="728003" y="2208158"/>
            <a:ext cx="9110883" cy="110539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9" name="TextBox 5"/>
          <p:cNvSpPr txBox="1"/>
          <p:nvPr/>
        </p:nvSpPr>
        <p:spPr>
          <a:xfrm>
            <a:off x="1509072" y="2804628"/>
            <a:ext cx="7714841" cy="9475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Публичные и внутренние API работают в условиях переменной нагрузки.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Перегрузка и DDoS-подобные сценарии приводят к задержкам, ошибкам и отказам.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Статические лимиты не оптимальны: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либо мешают обычным пользователям,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либо недостаточно защищают систему.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Нужен механизм, который в обычном режиме сохраняет доступность, а при атаке усиливает защиту.</a:t>
            </a:r>
          </a:p>
        </p:txBody>
      </p:sp>
      <p:sp>
        <p:nvSpPr>
          <p:cNvPr id="180" name="Rounded Rectangle 6"/>
          <p:cNvSpPr/>
          <p:nvPr/>
        </p:nvSpPr>
        <p:spPr>
          <a:xfrm>
            <a:off x="10913374" y="2224549"/>
            <a:ext cx="12952637" cy="10385474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8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19098" y="5196650"/>
            <a:ext cx="11741190" cy="4120984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Box 8"/>
          <p:cNvSpPr txBox="1"/>
          <p:nvPr/>
        </p:nvSpPr>
        <p:spPr>
          <a:xfrm>
            <a:off x="11408199" y="12793548"/>
            <a:ext cx="11962988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457200">
              <a:spcBef>
                <a:spcPts val="0"/>
              </a:spcBef>
              <a:defRPr sz="2800">
                <a:solidFill>
                  <a:srgbClr val="5D68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Каскадная деградация распределённой системы при перегрузке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Текст 3"/>
          <p:cNvSpPr txBox="1"/>
          <p:nvPr>
            <p:ph type="body" sz="quarter" idx="1"/>
          </p:nvPr>
        </p:nvSpPr>
        <p:spPr>
          <a:xfrm>
            <a:off x="1206500" y="2147729"/>
            <a:ext cx="21971000" cy="2563285"/>
          </a:xfrm>
          <a:prstGeom prst="rect">
            <a:avLst/>
          </a:prstGeom>
        </p:spPr>
        <p:txBody>
          <a:bodyPr/>
          <a:lstStyle>
            <a:lvl1pPr algn="ctr" defTabSz="457200">
              <a:spcBef>
                <a:spcPts val="0"/>
              </a:spcBef>
              <a:defRPr b="1"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Цель работы: Разработать и экспериментально проверить подход к ограничению частоты запросов, который помогает сохранять доступность сервиса для добросовестных пользователей и усиливать защиту при аномальной нагрузке.</a:t>
            </a:r>
          </a:p>
        </p:txBody>
      </p:sp>
      <p:sp>
        <p:nvSpPr>
          <p:cNvPr id="185" name="Заголовок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1" spc="0" sz="7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Цель и задачи исследования</a:t>
            </a:r>
          </a:p>
        </p:txBody>
      </p:sp>
      <p:sp>
        <p:nvSpPr>
          <p:cNvPr id="186" name="Номер слайда"/>
          <p:cNvSpPr txBox="1"/>
          <p:nvPr>
            <p:ph type="sldNum" sz="quarter" idx="4294967295"/>
          </p:nvPr>
        </p:nvSpPr>
        <p:spPr>
          <a:xfrm>
            <a:off x="23679403" y="12458699"/>
            <a:ext cx="26771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7" name="Rounded Rectangle 5"/>
          <p:cNvSpPr/>
          <p:nvPr/>
        </p:nvSpPr>
        <p:spPr>
          <a:xfrm>
            <a:off x="471736" y="4053840"/>
            <a:ext cx="11374903" cy="9193619"/>
          </a:xfrm>
          <a:prstGeom prst="roundRect">
            <a:avLst>
              <a:gd name="adj" fmla="val 13206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Проанализировать проблемы устойчивости и защищённости распределённых систем при высокой и аномальной нагрузке.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Сравнить алгоритмы Fixed Window, Sliding Window и Token Bucket по точности, адаптивности, сложности и применимости.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Спроектировать архитектуру прототипа: генератор нагрузки, прокси-лимитер, целевой сервис, Redis, Prometheus/Grafana.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Реализовать распределённый механизм RPS-лимитирования в сервисе C с хранением состояния в Redis и режимом fail-open.</a:t>
            </a:r>
          </a:p>
        </p:txBody>
      </p:sp>
      <p:sp>
        <p:nvSpPr>
          <p:cNvPr id="188" name="Rounded Rectangle 5"/>
          <p:cNvSpPr/>
          <p:nvPr/>
        </p:nvSpPr>
        <p:spPr>
          <a:xfrm>
            <a:off x="12453404" y="4053840"/>
            <a:ext cx="11374903" cy="9193619"/>
          </a:xfrm>
          <a:prstGeom prst="roundRect">
            <a:avLst>
              <a:gd name="adj" fmla="val 13206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9" name="5. Подключить внешний аналитический модуль для адаптивной настройки лимитов на основе телеметрии.…"/>
          <p:cNvSpPr txBox="1"/>
          <p:nvPr/>
        </p:nvSpPr>
        <p:spPr>
          <a:xfrm>
            <a:off x="12865301" y="5109107"/>
            <a:ext cx="10551110" cy="708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Подключить внешний аналитический модуль для адаптивной настройки лимитов на основе телеметрии.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6. Провести эксперименты в сценариях равномерной нагрузки, всплесков, аномального трафика и отказа Redis.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7. Оценить результаты по времени отклика, доле отклонённых запросов и устойчивости при пиках.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8. Сформулировать практические рекомендации по выбору алгоритма и параметров лимитирования.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Заголовок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1" spc="0" sz="7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Архитектура решения</a:t>
            </a:r>
          </a:p>
        </p:txBody>
      </p:sp>
      <p:sp>
        <p:nvSpPr>
          <p:cNvPr id="192" name="Номер слайда"/>
          <p:cNvSpPr txBox="1"/>
          <p:nvPr>
            <p:ph type="sldNum" sz="quarter" idx="4294967295"/>
          </p:nvPr>
        </p:nvSpPr>
        <p:spPr>
          <a:xfrm>
            <a:off x="23676101" y="12458699"/>
            <a:ext cx="27101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3" name="Rounded Rectangle 4"/>
          <p:cNvSpPr/>
          <p:nvPr/>
        </p:nvSpPr>
        <p:spPr>
          <a:xfrm>
            <a:off x="463303" y="2240015"/>
            <a:ext cx="9020514" cy="107914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1. Service A — генератор нагрузки.…"/>
          <p:cNvSpPr txBox="1"/>
          <p:nvPr/>
        </p:nvSpPr>
        <p:spPr>
          <a:xfrm>
            <a:off x="1039826" y="3159069"/>
            <a:ext cx="7867468" cy="895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Service A — генератор нагрузки.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Service C — прокси-лимитер, где применяется алгоритм ограничения.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Service B — целевой сервис.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Redis — хранение общего состояния лимитов.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Prometheus/Grafana — сбор и анализ метрик.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6. Внешний аналитический модуль — рекомендация режима работы.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Каждый запрос сначала проходит через лимитер, и только потом попадает в целевой сервис.</a:t>
            </a:r>
          </a:p>
        </p:txBody>
      </p:sp>
      <p:sp>
        <p:nvSpPr>
          <p:cNvPr id="195" name="Rounded Rectangle 6"/>
          <p:cNvSpPr/>
          <p:nvPr/>
        </p:nvSpPr>
        <p:spPr>
          <a:xfrm>
            <a:off x="10380471" y="2139156"/>
            <a:ext cx="13583876" cy="10993156"/>
          </a:xfrm>
          <a:prstGeom prst="roundRect">
            <a:avLst>
              <a:gd name="adj" fmla="val 14732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9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50202" y="4099379"/>
            <a:ext cx="12444325" cy="7072672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Box 8"/>
          <p:cNvSpPr txBox="1"/>
          <p:nvPr/>
        </p:nvSpPr>
        <p:spPr>
          <a:xfrm>
            <a:off x="14214507" y="12199815"/>
            <a:ext cx="5915805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 defTabSz="457200">
              <a:spcBef>
                <a:spcPts val="0"/>
              </a:spcBef>
              <a:defRPr sz="2800">
                <a:solidFill>
                  <a:srgbClr val="5D68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Схема экспериментального стенда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Заголовок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1" spc="0" sz="7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Методика эксперимента</a:t>
            </a:r>
          </a:p>
        </p:txBody>
      </p:sp>
      <p:sp>
        <p:nvSpPr>
          <p:cNvPr id="200" name="Номер слайда"/>
          <p:cNvSpPr txBox="1"/>
          <p:nvPr>
            <p:ph type="sldNum" sz="quarter" idx="4294967295"/>
          </p:nvPr>
        </p:nvSpPr>
        <p:spPr>
          <a:xfrm>
            <a:off x="23683721" y="12458699"/>
            <a:ext cx="26339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1" name="Rounded Rectangle 4"/>
          <p:cNvSpPr/>
          <p:nvPr/>
        </p:nvSpPr>
        <p:spPr>
          <a:xfrm>
            <a:off x="621767" y="2029751"/>
            <a:ext cx="8558774" cy="1124655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" name="Сравнивались 3 алгоритма:…"/>
          <p:cNvSpPr txBox="1"/>
          <p:nvPr/>
        </p:nvSpPr>
        <p:spPr>
          <a:xfrm>
            <a:off x="1160847" y="2552006"/>
            <a:ext cx="7480614" cy="948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4999"/>
              </a:lnSpc>
              <a:spcBef>
                <a:spcPts val="400"/>
              </a:spcBef>
              <a:defRPr b="1"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Сравнивались 3 алгоритма: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Fixed Window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Sliding Window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Token Bucket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b="1"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Сценарии нагрузки: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Равномерная низкая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Плавно меняющаяся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Стохастическая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Стабильно высокая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Кратковременные всплески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6. DDoS-подобная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b="1"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Ключевые метрики: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Задержка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Доля успешно пропущенных запросов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Доля отклонённых запросов 429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b="1"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Отдельно: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Фазовый адаптивный эксперимент по схеме «норма -&gt; атака -&gt; восстановление».</a:t>
            </a:r>
          </a:p>
        </p:txBody>
      </p:sp>
      <p:sp>
        <p:nvSpPr>
          <p:cNvPr id="203" name="Rounded Rectangle 7"/>
          <p:cNvSpPr/>
          <p:nvPr/>
        </p:nvSpPr>
        <p:spPr>
          <a:xfrm>
            <a:off x="9771031" y="2026735"/>
            <a:ext cx="13989603" cy="11252589"/>
          </a:xfrm>
          <a:prstGeom prst="roundRect">
            <a:avLst>
              <a:gd name="adj" fmla="val 15411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04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93413" y="3236265"/>
            <a:ext cx="12744840" cy="7243470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extBox 9"/>
          <p:cNvSpPr txBox="1"/>
          <p:nvPr/>
        </p:nvSpPr>
        <p:spPr>
          <a:xfrm>
            <a:off x="10545370" y="9941703"/>
            <a:ext cx="12440926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 defTabSz="457200">
              <a:spcBef>
                <a:spcPts val="0"/>
              </a:spcBef>
              <a:defRPr sz="2800">
                <a:solidFill>
                  <a:srgbClr val="5D68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Структура экспериментальных результатов и логика обработки сценариев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Заголовок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1" spc="0" sz="7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Ключевые результаты по алгоритмам</a:t>
            </a:r>
          </a:p>
        </p:txBody>
      </p:sp>
      <p:sp>
        <p:nvSpPr>
          <p:cNvPr id="208" name="Номер слайда"/>
          <p:cNvSpPr txBox="1"/>
          <p:nvPr>
            <p:ph type="sldNum" sz="quarter" idx="4294967295"/>
          </p:nvPr>
        </p:nvSpPr>
        <p:spPr>
          <a:xfrm>
            <a:off x="23675593" y="12458699"/>
            <a:ext cx="27152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9" name="Rounded Rectangle 4"/>
          <p:cNvSpPr/>
          <p:nvPr/>
        </p:nvSpPr>
        <p:spPr>
          <a:xfrm>
            <a:off x="645079" y="1977912"/>
            <a:ext cx="23093841" cy="6771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Универсального победителя нет: лучший алгоритм зависит от профиля нагрузки.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Token Bucket лучше сохраняет легитимный нерегулярный трафик.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Пример: в сценарии poisson доля успешно пропущенных запросов составила 99.27%.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Sliding Window даёт самую строгую защиту в DDoS-сценарии.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Пример: максимальная доля отклонённых запросов среди сравниваемых алгоритмов.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Fixed Window прост в реализации, но работает грубее и менее точно.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b="1"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Короткий вывод: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Для разных режимов нагрузки нужны разные алгоритмические профили.</a:t>
            </a:r>
          </a:p>
        </p:txBody>
      </p:sp>
      <p:graphicFrame>
        <p:nvGraphicFramePr>
          <p:cNvPr id="210" name="Table 9"/>
          <p:cNvGraphicFramePr/>
          <p:nvPr/>
        </p:nvGraphicFramePr>
        <p:xfrm>
          <a:off x="731904" y="9015983"/>
          <a:ext cx="22932892" cy="339350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730047"/>
                <a:gridCol w="5730047"/>
                <a:gridCol w="5730047"/>
                <a:gridCol w="5730047"/>
              </a:tblGrid>
              <a:tr h="845201">
                <a:tc>
                  <a:txBody>
                    <a:bodyPr/>
                    <a:lstStyle/>
                    <a:p>
                      <a:pPr algn="ctr" defTabSz="457200">
                        <a:defRPr b="0" sz="1800"/>
                      </a:pPr>
                      <a:r>
                        <a:rPr b="1" sz="3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Алгоритм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b="0" sz="1800"/>
                      </a:pPr>
                      <a:r>
                        <a:rPr b="1" sz="3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Штатный трафик, 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b="0" sz="1800"/>
                      </a:pPr>
                      <a:r>
                        <a:rPr b="1" sz="3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DDoS reject, 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b="0" sz="1800"/>
                      </a:pPr>
                      <a:r>
                        <a:rPr b="1" sz="3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 задержка, мс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12D4E"/>
                    </a:solidFill>
                  </a:tcPr>
                </a:tc>
              </a:tr>
              <a:tr h="845201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Token Bucket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92.08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32.67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1.680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</a:tr>
              <a:tr h="845201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Sliding Window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65.99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73.52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1.534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5201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Window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89.23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26.85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3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1.773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Заголовок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1" spc="0" sz="7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Ключевой результат по adaptive-контуру</a:t>
            </a:r>
          </a:p>
        </p:txBody>
      </p:sp>
      <p:sp>
        <p:nvSpPr>
          <p:cNvPr id="213" name="Номер слайда"/>
          <p:cNvSpPr txBox="1"/>
          <p:nvPr>
            <p:ph type="sldNum" sz="quarter" idx="4294967295"/>
          </p:nvPr>
        </p:nvSpPr>
        <p:spPr>
          <a:xfrm>
            <a:off x="23699469" y="12458699"/>
            <a:ext cx="247651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4" name="Rounded Rectangle 4"/>
          <p:cNvSpPr/>
          <p:nvPr/>
        </p:nvSpPr>
        <p:spPr>
          <a:xfrm>
            <a:off x="380181" y="1914593"/>
            <a:ext cx="7063415" cy="112040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lnSpc>
                <a:spcPct val="104999"/>
              </a:lnSpc>
              <a:spcBef>
                <a:spcPts val="400"/>
              </a:spcBef>
              <a:defRPr b="1"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Базовая идея: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В обычном режиме система работает как Token Bucket,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при атаке переходит к более строгому режиму Sliding Window.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b="1"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Что подтверждено экспериментом: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Схема token -&gt; sliding -&gt; token воспроизводимо работает.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В нормальной фазе сохраняется 100% доступность.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В атакующей фазе защита усиливается по сравнению со статическим Token Bucket.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Контур реально выполняет переключения режима.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b="1"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Ограничение: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3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Возврат из защитного режима пока происходит слишком медленно.</a:t>
            </a:r>
          </a:p>
        </p:txBody>
      </p:sp>
      <p:sp>
        <p:nvSpPr>
          <p:cNvPr id="215" name="Rounded Rectangle 6"/>
          <p:cNvSpPr/>
          <p:nvPr/>
        </p:nvSpPr>
        <p:spPr>
          <a:xfrm>
            <a:off x="8089013" y="1960784"/>
            <a:ext cx="15591365" cy="5128715"/>
          </a:xfrm>
          <a:prstGeom prst="roundRect">
            <a:avLst>
              <a:gd name="adj" fmla="val 10663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1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89013" y="1960784"/>
            <a:ext cx="12288199" cy="4899389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17" name="Table 12"/>
          <p:cNvGraphicFramePr/>
          <p:nvPr/>
        </p:nvGraphicFramePr>
        <p:xfrm>
          <a:off x="15935107" y="7795931"/>
          <a:ext cx="7884564" cy="445834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967965"/>
                <a:gridCol w="1967965"/>
                <a:gridCol w="1967965"/>
                <a:gridCol w="1967965"/>
              </a:tblGrid>
              <a:tr h="2002420">
                <a:tc>
                  <a:txBody>
                    <a:bodyPr/>
                    <a:lstStyle/>
                    <a:p>
                      <a:pPr algn="ctr" defTabSz="457200">
                        <a:defRPr b="0" sz="1800"/>
                      </a:pPr>
                      <a:r>
                        <a:rPr b="1" sz="2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Сценарий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b="0" sz="1800"/>
                      </a:pPr>
                      <a:r>
                        <a:rPr b="1" sz="2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Reject в фазе атаки, 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b="0" sz="1800"/>
                      </a:pPr>
                      <a:r>
                        <a:rPr b="1" sz="2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Reject в фазе восстановления, 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b="0" sz="1800"/>
                      </a:pPr>
                      <a:r>
                        <a:rPr b="1" sz="2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Переключения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112D4E"/>
                    </a:solidFill>
                  </a:tcPr>
                </a:tc>
              </a:tr>
              <a:tr h="122609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phase_burst_recovery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48.17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3ECE2"/>
                    </a:solidFill>
                  </a:tcPr>
                </a:tc>
              </a:tr>
              <a:tr h="1217137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phase_ddos_recovery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71.04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27.24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8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8" name="Rounded Rectangle 9"/>
          <p:cNvSpPr/>
          <p:nvPr/>
        </p:nvSpPr>
        <p:spPr>
          <a:xfrm>
            <a:off x="8143478" y="7404696"/>
            <a:ext cx="7096510" cy="522812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19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43478" y="7404696"/>
            <a:ext cx="7004943" cy="36234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Заголовок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1" spc="0" sz="7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Выводы и практическая значимость</a:t>
            </a:r>
          </a:p>
        </p:txBody>
      </p:sp>
      <p:sp>
        <p:nvSpPr>
          <p:cNvPr id="222" name="Номер слайда"/>
          <p:cNvSpPr txBox="1"/>
          <p:nvPr>
            <p:ph type="sldNum" sz="quarter" idx="4294967295"/>
          </p:nvPr>
        </p:nvSpPr>
        <p:spPr>
          <a:xfrm>
            <a:off x="23678641" y="12458699"/>
            <a:ext cx="26847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3" name="Rounded Rectangle 4"/>
          <p:cNvSpPr/>
          <p:nvPr/>
        </p:nvSpPr>
        <p:spPr>
          <a:xfrm>
            <a:off x="621767" y="2029751"/>
            <a:ext cx="23140465" cy="8254332"/>
          </a:xfrm>
          <a:prstGeom prst="roundRect">
            <a:avLst>
              <a:gd name="adj" fmla="val 17282"/>
            </a:avLst>
          </a:prstGeom>
          <a:solidFill>
            <a:srgbClr val="FFFFFF"/>
          </a:solidFill>
          <a:ln>
            <a:solidFill>
              <a:srgbClr val="DCE0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4" name="1. Разработан и проверен работающий прототип распределённого лимитера.…"/>
          <p:cNvSpPr txBox="1"/>
          <p:nvPr/>
        </p:nvSpPr>
        <p:spPr>
          <a:xfrm>
            <a:off x="1160847" y="2710127"/>
            <a:ext cx="22062306" cy="6893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Разработан и проверен работающий прототип распределённого лимитера.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Показано, что выбор алгоритма должен зависеть от типа нагрузки.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Для штатного режима наиболее полезен Token Bucket.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Для аномальной нагрузки наиболее оправдан Sliding Window.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Адаптивный контур полезен как механизм переключения режимов, но требует дальнейшей оптимизации.</a:t>
            </a:r>
          </a:p>
          <a:p>
            <a:pPr defTabSz="457200">
              <a:lnSpc>
                <a:spcPct val="104999"/>
              </a:lnSpc>
              <a:spcBef>
                <a:spcPts val="400"/>
              </a:spcBef>
              <a:defRPr sz="4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6. Решение может использоваться как основа для защиты публичных API и снижения риска перегрузки сервиса.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itle 1"/>
          <p:cNvSpPr txBox="1"/>
          <p:nvPr>
            <p:ph type="title"/>
          </p:nvPr>
        </p:nvSpPr>
        <p:spPr>
          <a:xfrm>
            <a:off x="1206500" y="6013450"/>
            <a:ext cx="21971000" cy="1689100"/>
          </a:xfrm>
          <a:prstGeom prst="rect">
            <a:avLst/>
          </a:prstGeom>
        </p:spPr>
        <p:txBody>
          <a:bodyPr/>
          <a:lstStyle/>
          <a:p>
            <a:pPr algn="ctr" defTabSz="1048511">
              <a:defRPr spc="-49" sz="4988">
                <a:solidFill>
                  <a:srgbClr val="F0FFF3"/>
                </a:solidFill>
              </a:defRPr>
            </a:pPr>
            <a:r>
              <a:t>Спасибо</a:t>
            </a:r>
            <a:br/>
            <a:r>
              <a:t>за внимание!</a:t>
            </a:r>
          </a:p>
        </p:txBody>
      </p:sp>
      <p:sp>
        <p:nvSpPr>
          <p:cNvPr id="227" name="Номер слайда"/>
          <p:cNvSpPr txBox="1"/>
          <p:nvPr>
            <p:ph type="sldNum" sz="quarter" idx="4294967295"/>
          </p:nvPr>
        </p:nvSpPr>
        <p:spPr>
          <a:xfrm>
            <a:off x="23675339" y="12458699"/>
            <a:ext cx="271781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