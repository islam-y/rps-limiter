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17"/>
  </p:notesMasterIdLst>
  <p:handoutMasterIdLst>
    <p:handoutMasterId r:id="rId18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72" autoAdjust="0"/>
  </p:normalViewPr>
  <p:slideViewPr>
    <p:cSldViewPr snapToGrid="0" snapToObjects="1" showGuides="1">
      <p:cViewPr varScale="1">
        <p:scale>
          <a:sx n="140" d="100"/>
          <a:sy n="140" d="100"/>
        </p:scale>
        <p:origin x="864" y="108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commentAuthors" Target="commentAuthor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9/9/2022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9/9/2022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Адаптивное управление нагрузкой в распределенной среде на основе интеллектуального анализа трафика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300"/>
              </a:spcAft>
              <a:defRPr sz="2000" b="1">
                <a:solidFill>
                  <a:srgbClr val="1F2937"/>
                </a:solidFill>
                <a:latin typeface="Arial"/>
              </a:defRPr>
            </a:pPr>
            <a:r>
              <a:t>Юнусов Ислам Рамилевич</a:t>
            </a:r>
          </a:p>
          <a:p>
            <a:pPr>
              <a:spcAft>
                <a:spcPts val="3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Группа P4219</a:t>
            </a:r>
          </a:p>
          <a:p>
            <a:pPr>
              <a:spcAft>
                <a:spcPts val="3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Научный руководитель: Платонов Алексей Владимирович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3913632"/>
            <a:ext cx="1600200" cy="411480"/>
          </a:xfrm>
          <a:prstGeom prst="round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Предзащита, 5 минут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79145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874"/>
                </a:solidFill>
                <a:latin typeface="Arial"/>
              </a:defRPr>
            </a:pPr>
            <a: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Актуальность и проблема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7199" y="699516"/>
            <a:ext cx="3463376" cy="390906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88" y="809244"/>
            <a:ext cx="3237056" cy="356616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1. Публичные и внутренние API работают в условиях переменной нагрузки.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2. Перегрузка и DDoS-подобные сценарии приводят к задержкам, ошибкам и отказам.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3. Статические лимиты неудобны: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- либо мешают обычным пользователям,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- либо недостаточно защищают систему.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4. Нужен механизм, который в обычном режиме сохраняет доступность, а при атаке усиливает защиту.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12030" y="809244"/>
            <a:ext cx="4745854" cy="339471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1_cascade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894" y="1692993"/>
            <a:ext cx="4636126" cy="16272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80612" y="4217670"/>
            <a:ext cx="46086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D6874"/>
                </a:solidFill>
                <a:latin typeface="Arial"/>
              </a:defRPr>
            </a:pPr>
            <a:r>
              <a:t>Каскадная деградация распределённой системы при перегрузке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479145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874"/>
                </a:solidFill>
                <a:latin typeface="Arial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и задачи исследования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55" y="788669"/>
            <a:ext cx="8195514" cy="617220"/>
          </a:xfrm>
          <a:prstGeom prst="roundRect">
            <a:avLst/>
          </a:prstGeom>
          <a:solidFill>
            <a:srgbClr val="F3ECE2"/>
          </a:solidFill>
          <a:ln>
            <a:solidFill>
              <a:srgbClr val="C9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937"/>
                </a:solidFill>
                <a:latin typeface="Arial"/>
              </a:defRPr>
            </a:pPr>
            <a:r>
              <a:t>Цель работы: Разработать и экспериментально проверить подход к ограничению частоты запросов, который помогает сохранять доступность сервиса для добросовестных пользователей и усиливать защиту при аномальной нагрузке.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55" y="1563624"/>
            <a:ext cx="4012030" cy="270891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63556" y="1563624"/>
            <a:ext cx="4012030" cy="270891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35" y="1728216"/>
            <a:ext cx="3669121" cy="23317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t>1. Проанализировать проблемы устойчивости и защищённости распределённых систем при высокой и аномальной нагрузке.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t>2. Сравнить алгоритмы Fixed Window, Sliding Window и Token Bucket по точности, адаптивности, сложности и применимости.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t>3. Спроектировать архитектуру прототипа: генератор нагрузки, прокси-лимитер, целевой сервис, Redis, Prometheus/Grafana.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t>4. Реализовать распределённый механизм RPS-лимитирования в сервисе C с хранением состояния в Redis и режимом fail-open.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4436" y="1728216"/>
            <a:ext cx="3669121" cy="23317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t>5. Подключить внешний аналитический модуль для адаптивной настройки лимитов на основе телеметрии.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t>6. Провести эксперименты в сценариях равномерной нагрузки, всплесков, аномального трафика и отказа Redis.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t>7. Оценить результаты по времени отклика, доле отклонённых запросов и устойчивости при пиках.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t>8. Сформулировать практические рекомендации по выбору алгоритма и параметров лимитирования.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40216" y="4334256"/>
            <a:ext cx="6172354" cy="301752"/>
          </a:xfrm>
          <a:prstGeom prst="roundRect">
            <a:avLst/>
          </a:prstGeom>
          <a:solidFill>
            <a:srgbClr val="F3ECE2"/>
          </a:solidFill>
          <a:ln>
            <a:solidFill>
              <a:srgbClr val="C9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937"/>
                </a:solidFill>
                <a:latin typeface="Arial"/>
              </a:defRPr>
            </a:pPr>
            <a:r>
              <a:t>Все задачи связаны с практической проверкой решения на реальном проектном стенде.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479145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874"/>
                </a:solidFill>
                <a:latin typeface="Arial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решения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7199" y="699516"/>
            <a:ext cx="3463376" cy="390906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88" y="809244"/>
            <a:ext cx="3237056" cy="356616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1. Service A — генератор нагрузки.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2. Service C — прокси-лимитер, где применяется алгоритм ограничения.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3. Service B — целевой сервис.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4. Redis — хранение общего состояния лимитов.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5. Prometheus/Grafana — сбор и анализ метрик.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6. Внешний аналитический модуль — Python/Prophet, краткосрочный прогноз RPS по телеметрии.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Каждый запрос сначала проходит через лимитер, и только потом попадает в целевой сервис.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12030" y="809244"/>
            <a:ext cx="4745854" cy="339471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5_experiment_st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894" y="1189138"/>
            <a:ext cx="4636126" cy="263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80612" y="4217670"/>
            <a:ext cx="46086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D6874"/>
                </a:solidFill>
                <a:latin typeface="Arial"/>
              </a:defRPr>
            </a:pPr>
            <a:r>
              <a:t>Схема экспериментального стенда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479145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874"/>
                </a:solidFill>
                <a:latin typeface="Arial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Методика эксперимента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7199" y="720090"/>
            <a:ext cx="3634830" cy="390906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88" y="809244"/>
            <a:ext cx="3394794" cy="3497579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500" b="1">
                <a:solidFill>
                  <a:srgbClr val="1F2937"/>
                </a:solidFill>
                <a:latin typeface="Arial"/>
              </a:defRPr>
            </a:pPr>
            <a:r>
              <a:t>Сравнивались 3 алгоритма: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1. Fixed Window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2. Sliding Window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3. Token Bucket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1">
                <a:solidFill>
                  <a:srgbClr val="1F2937"/>
                </a:solidFill>
                <a:latin typeface="Arial"/>
              </a:defRPr>
            </a:pPr>
            <a:r>
              <a:t>Сценарии нагрузки: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1. Равномерная низкая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2. Плавно меняющаяся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3. Стохастическая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4. Стабильно высокая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5. Кратковременные всплески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6. DDoS-подобная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1">
                <a:solidFill>
                  <a:srgbClr val="1F2937"/>
                </a:solidFill>
                <a:latin typeface="Arial"/>
              </a:defRPr>
            </a:pPr>
            <a:r>
              <a:t>Ключевые метрики: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1. Задержка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2. Доля успешно пропущенных запросов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3. Доля отклонённых запросов 429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1">
                <a:solidFill>
                  <a:srgbClr val="1F2937"/>
                </a:solidFill>
                <a:latin typeface="Arial"/>
              </a:defRPr>
            </a:pPr>
            <a:r>
              <a:t>Критерии успеха: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1. В норме — высокая доступность, приемлемая задержка, без критичных 5xx.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2. В аномалии — рост 429/reject и разгрузка целевого сервиса без срыва прокси.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3. Для adaptive — реальная схема token -&gt; sliding -&gt; token.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4. Вывод принимается только по повторам и CI95.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1">
                <a:solidFill>
                  <a:srgbClr val="1F2937"/>
                </a:solidFill>
                <a:latin typeface="Arial"/>
              </a:defRPr>
            </a:pPr>
            <a:r>
              <a:t>Отдельно: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Фазовый адаптивный эксперимент по схеме «норма -&gt; атака -&gt; восстановление».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35" y="4149089"/>
            <a:ext cx="3154758" cy="274320"/>
          </a:xfrm>
          <a:prstGeom prst="roundRect">
            <a:avLst/>
          </a:prstGeom>
          <a:solidFill>
            <a:srgbClr val="F3ECE2"/>
          </a:solidFill>
          <a:ln>
            <a:solidFill>
              <a:srgbClr val="C9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937"/>
                </a:solidFill>
                <a:latin typeface="Arial"/>
              </a:defRPr>
            </a:pPr>
            <a:r>
              <a:t>Норма → атака → восстановление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49193" y="836676"/>
            <a:ext cx="4423520" cy="336042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4_results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057" y="1291024"/>
            <a:ext cx="4313792" cy="24517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52066" y="4217670"/>
            <a:ext cx="41834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D6874"/>
                </a:solidFill>
                <a:latin typeface="Arial"/>
              </a:defRPr>
            </a:pPr>
            <a:r>
              <a:t>Структура экспериментальных результатов и логика обработки сценариев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479145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874"/>
                </a:solidFill>
                <a:latin typeface="Arial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результаты по алгоритмам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7199" y="706374"/>
            <a:ext cx="2914722" cy="2811779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88" y="795527"/>
            <a:ext cx="2688403" cy="257175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1. Универсального победителя нет: лучший алгоритм зависит от профиля нагрузки.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2. Token Bucket лучше сохраняет легитимный нерегулярный трафик.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Пример: в сценарии poisson доля успешно пропущенных запросов составила 99.27%.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3. Sliding Window даёт самую строгую защиту в DDoS-сценарии.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Пример: максимальная доля отклонённых запросов среди сравниваемых алгоритмов.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4. Fixed Window прост в реализации, но работает грубее и менее точно.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1">
                <a:solidFill>
                  <a:srgbClr val="1F2937"/>
                </a:solidFill>
                <a:latin typeface="Arial"/>
              </a:defRPr>
            </a:pPr>
            <a:r>
              <a:t>Короткий вывод: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 b="0">
                <a:solidFill>
                  <a:srgbClr val="1F2937"/>
                </a:solidFill>
                <a:latin typeface="Arial"/>
              </a:defRPr>
            </a:pPr>
            <a:r>
              <a:t>Для разных режимов нагрузки нужны разные алгоритмические профили.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63376" y="809244"/>
            <a:ext cx="5212210" cy="229743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3_2b_reliability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779" y="864108"/>
            <a:ext cx="4375404" cy="21877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11383" y="3140964"/>
            <a:ext cx="510933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D6874"/>
                </a:solidFill>
                <a:latin typeface="Arial"/>
              </a:defRPr>
            </a:pPr>
            <a:r>
              <a:t>Сравнение алгоритмов по доступности штатного трафика и защитной функции в DDoS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88" y="3429000"/>
          <a:ext cx="8161224" cy="102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0306"/>
                <a:gridCol w="2040306"/>
                <a:gridCol w="2040306"/>
                <a:gridCol w="2040306"/>
              </a:tblGrid>
              <a:tr h="257175">
                <a:tc>
                  <a:txBody>
                    <a:bodyPr wrap="square" anchor="ctr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Алгоритм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Штатный трафик, %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DDoS reject, %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Средняя задержка, мс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</a:tr>
              <a:tr h="257175">
                <a:tc>
                  <a:txBody>
                    <a:bodyPr wrap="square" anchor="ctr"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Token Bucket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92.08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32.67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1.680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</a:tr>
              <a:tr h="257175">
                <a:tc>
                  <a:txBody>
                    <a:bodyPr wrap="square" anchor="ctr"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Sliding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65.99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73.52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1.534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square" anchor="ctr"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Fixed Window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89.23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26.85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1.773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366760" y="479145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874"/>
                </a:solidFill>
                <a:latin typeface="Arial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Ключевой результат по adaptive-контуру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7199" y="699516"/>
            <a:ext cx="2708977" cy="3806189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88" y="795527"/>
            <a:ext cx="2482658" cy="325755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400" b="1">
                <a:solidFill>
                  <a:srgbClr val="1F2937"/>
                </a:solidFill>
                <a:latin typeface="Arial"/>
              </a:defRPr>
            </a:pPr>
            <a:r>
              <a:t>Базовая идея: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t>В обычном режиме система работает как Token Bucket,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t>при атаке переходит к более строгому режиму Sliding Window.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400" b="1">
                <a:solidFill>
                  <a:srgbClr val="1F2937"/>
                </a:solidFill>
                <a:latin typeface="Arial"/>
              </a:defRPr>
            </a:pPr>
            <a:r>
              <a:t>Что подтверждено экспериментом: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t>1. Схема token -&gt; sliding -&gt; token воспроизводимо работает.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t>2. В нормальной фазе сохраняется 100% доступность.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t>3. В атакующей фазе защита усиливается по сравнению со статическим Token Bucket.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t>4. Контур реально выполняет переключения режима.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400" b="1">
                <a:solidFill>
                  <a:srgbClr val="1F2937"/>
                </a:solidFill>
                <a:latin typeface="Arial"/>
              </a:defRPr>
            </a:pPr>
            <a:r>
              <a:t>Ограничение: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t>Возврат из защитного режима пока происходит слишком медленно.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23340" y="795527"/>
            <a:ext cx="5383664" cy="1920239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3_2d_phase_re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692" y="850392"/>
            <a:ext cx="4540959" cy="18105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19354" y="2708910"/>
            <a:ext cx="517791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D6874"/>
                </a:solidFill>
                <a:latin typeface="Arial"/>
              </a:defRPr>
            </a:pPr>
            <a:r>
              <a:t>Фазовое сравнение отклонённых запросов в адаптивном эксперименте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23340" y="2894076"/>
            <a:ext cx="2743268" cy="102870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3_2e_adaptive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690" y="2948940"/>
            <a:ext cx="1776568" cy="9189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64489" y="3929634"/>
            <a:ext cx="266097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D6874"/>
                </a:solidFill>
                <a:latin typeface="Arial"/>
              </a:defRPr>
            </a:pPr>
            <a:r>
              <a:t>Таймлайн переключений adaptive-контура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38063" y="2935224"/>
          <a:ext cx="2434648" cy="1014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662"/>
                <a:gridCol w="608662"/>
                <a:gridCol w="608662"/>
                <a:gridCol w="608662"/>
              </a:tblGrid>
              <a:tr h="338327">
                <a:tc>
                  <a:txBody>
                    <a:bodyPr wrap="square"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Сценарий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Reject в фазе атаки, %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Reject в фазе восстановления, %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Переключения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</a:tr>
              <a:tr h="338327">
                <a:tc>
                  <a:txBody>
                    <a:bodyPr wrap="square" anchor="ctr"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phase_burst_recovery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48.17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8.56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</a:tr>
              <a:tr h="338329">
                <a:tc>
                  <a:txBody>
                    <a:bodyPr wrap="square" anchor="ctr"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phase_ddos_recovery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71.04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27.24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366760" y="479145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874"/>
                </a:solidFill>
                <a:latin typeface="Arial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>
              <a:spcAft>
                <a:spcPts val="3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1. Разработан и проверен работающий прототип распределённого лимитера.</a:t>
            </a:r>
          </a:p>
          <a:p>
            <a:pPr>
              <a:spcAft>
                <a:spcPts val="3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2. Показано, что выбор алгоритма должен зависеть от типа нагрузки.</a:t>
            </a:r>
          </a:p>
          <a:p>
            <a:pPr>
              <a:spcAft>
                <a:spcPts val="3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3. Для штатного режима наиболее полезен Token Bucket.</a:t>
            </a:r>
          </a:p>
          <a:p>
            <a:pPr>
              <a:spcAft>
                <a:spcPts val="3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4. Для аномальной нагрузки наиболее оправдан Sliding Window.</a:t>
            </a:r>
          </a:p>
          <a:p>
            <a:pPr>
              <a:spcAft>
                <a:spcPts val="3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5. Адаптивный контур полезен как механизм переключения режимов.</a:t>
            </a:r>
          </a:p>
          <a:p>
            <a:pPr>
              <a:spcAft>
                <a:spcPts val="3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6. Решение может использоваться как основа для защиты публичных API и снижения риска перегрузки сервиса.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 и практическая значимость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434840"/>
            <a:ext cx="7086600" cy="411480"/>
          </a:xfrm>
          <a:prstGeom prst="roundRect">
            <a:avLst/>
          </a:prstGeom>
          <a:solidFill>
            <a:srgbClr val="F3ECE2"/>
          </a:solidFill>
          <a:ln>
            <a:solidFill>
              <a:srgbClr val="C9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937"/>
                </a:solidFill>
                <a:latin typeface="Arial"/>
              </a:defRPr>
            </a:pPr>
            <a:r>
              <a:t>Практический результат работы — воспроизводимая двухрежимная политика лимитирования для распределённой системы.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79145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874"/>
                </a:solidFill>
                <a:latin typeface="Arial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5343</TotalTime>
  <Words>209</Words>
  <Application>Microsoft Office PowerPoint</Application>
  <PresentationFormat>Экран (16:9)</PresentationFormat>
  <Paragraphs>24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ALS Gorizont Bold Expanded</vt:lpstr>
      <vt:lpstr>Arial</vt:lpstr>
      <vt:lpstr>Calibri</vt:lpstr>
      <vt:lpstr>Golos Text</vt:lpstr>
      <vt:lpstr>Golos Text DemiBold</vt:lpstr>
      <vt:lpstr>Тема1</vt:lpstr>
      <vt:lpstr>Название презентации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  <vt:lpstr>Рекомендации по оформлению слайдов</vt:lpstr>
      <vt:lpstr>Рекомендации по оформлению слайдов</vt:lpstr>
      <vt:lpstr>Рекомендации по оформлению слайдов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Петухова Виктория Андреевна</cp:lastModifiedBy>
  <cp:revision>103</cp:revision>
  <dcterms:created xsi:type="dcterms:W3CDTF">2014-06-27T12:30:22Z</dcterms:created>
  <dcterms:modified xsi:type="dcterms:W3CDTF">2022-09-09T13:21:46Z</dcterms:modified>
</cp:coreProperties>
</file>